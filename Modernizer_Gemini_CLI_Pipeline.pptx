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7b1262db-4c1c-a2e3-ec79-c6f9329ef019}">
          <p14:sldIdLst>
            <p14:sldId id="256"/>
            <p14:sldId id="257"/>
          </p14:sldIdLst>
        </p14:section>
        <p14:section name="Deep dive" id="{4fc025fc-c745-758a-40d8-d5f100c2d9b7}">
          <p14:sldIdLst>
            <p14:sldId id="258"/>
          </p14:sldIdLst>
        </p14:section>
        <p14:section name="Review" id="{d421839c-d321-774f-4b20-f22450b8a6cc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Reverse engineering runs three human gates. Deterministic code computes facts without a model; analysts read evidence packs; writers only see grounded evidence. Outputs land in &lt;repo&gt;/.modernizer/deliverables.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are one folder per migration with SKILL.md and per-step instructions; the same skills are shared with the backend. Subagents: planner, modifier, validator, fixer, reviewer, reporter, tester.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java-8-to-25 keeps Spring Boot opt-in; the boot profile forces the Boot end state. Test runs used agents playing the Gemini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Checks are deterministic code, not prompts, so they apply the same way on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a pilot on two real repos with the actual Gemini CLI before wider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Reverse engineering: raw repo to grounded documents</a:t>
            </a:r>
            <a:endParaRPr lang="en-US" sz="2200" dirty="0"/>
          </a:p>
        </p:txBody>
      </p:sp>
      <p:sp>
        <p:nvSpPr>
          <p:cNvPr id="3" name="step0"/>
          <p:cNvSpPr/>
          <p:nvPr/>
        </p:nvSpPr>
        <p:spPr>
          <a:xfrm>
            <a:off x="365760" y="868680"/>
            <a:ext cx="1280160" cy="960120"/>
          </a:xfrm>
          <a:prstGeom prst="roundRect">
            <a:avLst>
              <a:gd name="adj" fmla="val 5714"/>
            </a:avLst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8912" y="9144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Detect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38912" y="118872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Fingerprint, stack detection, dependency-mapper</a:t>
            </a:r>
            <a:endParaRPr lang="en-US" sz="1050" dirty="0"/>
          </a:p>
        </p:txBody>
      </p:sp>
      <p:sp>
        <p:nvSpPr>
          <p:cNvPr id="6" name="step1"/>
          <p:cNvSpPr/>
          <p:nvPr/>
        </p:nvSpPr>
        <p:spPr>
          <a:xfrm>
            <a:off x="2011680" y="868680"/>
            <a:ext cx="1280160" cy="960120"/>
          </a:xfrm>
          <a:prstGeom prst="roundRect">
            <a:avLst>
              <a:gd name="adj" fmla="val 5714"/>
            </a:avLst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84832" y="9144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Compute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84832" y="118872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Interfaces, config, UI contracts (no model)</a:t>
            </a:r>
            <a:endParaRPr lang="en-US" sz="1050" dirty="0"/>
          </a:p>
        </p:txBody>
      </p:sp>
      <p:sp>
        <p:nvSpPr>
          <p:cNvPr id="9" name="step2"/>
          <p:cNvSpPr/>
          <p:nvPr/>
        </p:nvSpPr>
        <p:spPr>
          <a:xfrm>
            <a:off x="3657600" y="868680"/>
            <a:ext cx="1280160" cy="960120"/>
          </a:xfrm>
          <a:prstGeom prst="roundRect">
            <a:avLst>
              <a:gd name="adj" fmla="val 5714"/>
            </a:avLst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0752" y="9144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Evidence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30752" y="118872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read by analysts; every file:line checked</a:t>
            </a:r>
            <a:endParaRPr lang="en-US" sz="1050" dirty="0"/>
          </a:p>
        </p:txBody>
      </p:sp>
      <p:sp>
        <p:nvSpPr>
          <p:cNvPr id="12" name="step3"/>
          <p:cNvSpPr/>
          <p:nvPr/>
        </p:nvSpPr>
        <p:spPr>
          <a:xfrm>
            <a:off x="5303520" y="868680"/>
            <a:ext cx="1280160" cy="960120"/>
          </a:xfrm>
          <a:prstGeom prst="roundRect">
            <a:avLst>
              <a:gd name="adj" fmla="val 5714"/>
            </a:avLst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76672" y="9144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Write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76672" y="118872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BRD, spec, tests, diagrams from evidence only</a:t>
            </a:r>
            <a:endParaRPr lang="en-US" sz="1050" dirty="0"/>
          </a:p>
        </p:txBody>
      </p:sp>
      <p:sp>
        <p:nvSpPr>
          <p:cNvPr id="15" name="step4"/>
          <p:cNvSpPr/>
          <p:nvPr/>
        </p:nvSpPr>
        <p:spPr>
          <a:xfrm>
            <a:off x="6949440" y="868680"/>
            <a:ext cx="1280160" cy="960120"/>
          </a:xfrm>
          <a:prstGeom prst="roundRect">
            <a:avLst>
              <a:gd name="adj" fmla="val 5714"/>
            </a:avLst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22592" y="9144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Assemble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22592" y="118872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Scrub, citation check, credential redaction</a:t>
            </a:r>
            <a:endParaRPr lang="en-US" sz="1050" dirty="0"/>
          </a:p>
        </p:txBody>
      </p:sp>
      <p:sp>
        <p:nvSpPr>
          <p:cNvPr id="18" name="gateG1"/>
          <p:cNvSpPr/>
          <p:nvPr/>
        </p:nvSpPr>
        <p:spPr>
          <a:xfrm>
            <a:off x="1645920" y="117043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4592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00" dirty="0"/>
          </a:p>
        </p:txBody>
      </p:sp>
      <p:sp>
        <p:nvSpPr>
          <p:cNvPr id="20" name="gateG2"/>
          <p:cNvSpPr/>
          <p:nvPr/>
        </p:nvSpPr>
        <p:spPr>
          <a:xfrm>
            <a:off x="3291840" y="117043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22" name="gateG3"/>
          <p:cNvSpPr/>
          <p:nvPr/>
        </p:nvSpPr>
        <p:spPr>
          <a:xfrm>
            <a:off x="8229600" y="117043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1353312"/>
            <a:ext cx="36576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83680" y="1353312"/>
            <a:ext cx="36576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65760" y="18745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stacks and documents  ·  G2 strategy (layered-trace, api-first, data-first, stack-by-stack)  ·  G3 review: refine re-runs one writer, approve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2212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extracted</a:t>
            </a:r>
            <a:endParaRPr lang="en-US" sz="1500" dirty="0"/>
          </a:p>
        </p:txBody>
      </p:sp>
      <p:sp>
        <p:nvSpPr>
          <p:cNvPr id="28" name="doc0"/>
          <p:cNvSpPr/>
          <p:nvPr/>
        </p:nvSpPr>
        <p:spPr>
          <a:xfrm>
            <a:off x="365760" y="2542032"/>
            <a:ext cx="201168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8912" y="2542032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BRD.md</a:t>
            </a:r>
            <a:endParaRPr lang="en-US" sz="1000" dirty="0"/>
          </a:p>
        </p:txBody>
      </p:sp>
      <p:sp>
        <p:nvSpPr>
          <p:cNvPr id="30" name="doc1"/>
          <p:cNvSpPr/>
          <p:nvPr/>
        </p:nvSpPr>
        <p:spPr>
          <a:xfrm>
            <a:off x="2468880" y="2542032"/>
            <a:ext cx="201168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42032" y="2542032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TECHNICAL_SPECIFICATION.md</a:t>
            </a:r>
            <a:endParaRPr lang="en-US" sz="1000" dirty="0"/>
          </a:p>
        </p:txBody>
      </p:sp>
      <p:sp>
        <p:nvSpPr>
          <p:cNvPr id="32" name="doc2"/>
          <p:cNvSpPr/>
          <p:nvPr/>
        </p:nvSpPr>
        <p:spPr>
          <a:xfrm>
            <a:off x="365760" y="2889504"/>
            <a:ext cx="201168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8912" y="2889504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SETUP.md</a:t>
            </a:r>
            <a:endParaRPr lang="en-US" sz="1000" dirty="0"/>
          </a:p>
        </p:txBody>
      </p:sp>
      <p:sp>
        <p:nvSpPr>
          <p:cNvPr id="34" name="doc3"/>
          <p:cNvSpPr/>
          <p:nvPr/>
        </p:nvSpPr>
        <p:spPr>
          <a:xfrm>
            <a:off x="2468880" y="2889504"/>
            <a:ext cx="201168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542032" y="2889504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openapi.yaml / .json</a:t>
            </a:r>
            <a:endParaRPr lang="en-US" sz="1000" dirty="0"/>
          </a:p>
        </p:txBody>
      </p:sp>
      <p:sp>
        <p:nvSpPr>
          <p:cNvPr id="36" name="doc4"/>
          <p:cNvSpPr/>
          <p:nvPr/>
        </p:nvSpPr>
        <p:spPr>
          <a:xfrm>
            <a:off x="365760" y="3236976"/>
            <a:ext cx="201168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8912" y="3236976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inventory</a:t>
            </a:r>
            <a:endParaRPr lang="en-US" sz="1000" dirty="0"/>
          </a:p>
        </p:txBody>
      </p:sp>
      <p:sp>
        <p:nvSpPr>
          <p:cNvPr id="38" name="doc5"/>
          <p:cNvSpPr/>
          <p:nvPr/>
        </p:nvSpPr>
        <p:spPr>
          <a:xfrm>
            <a:off x="2468880" y="3236976"/>
            <a:ext cx="201168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542032" y="3236976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TECH_DEBT_AND_DEAD_CODE.md</a:t>
            </a:r>
            <a:endParaRPr lang="en-US" sz="1000" dirty="0"/>
          </a:p>
        </p:txBody>
      </p:sp>
      <p:sp>
        <p:nvSpPr>
          <p:cNvPr id="40" name="doc6"/>
          <p:cNvSpPr/>
          <p:nvPr/>
        </p:nvSpPr>
        <p:spPr>
          <a:xfrm>
            <a:off x="365760" y="3584448"/>
            <a:ext cx="201168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38912" y="3584448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UI_PAGES.md</a:t>
            </a:r>
            <a:endParaRPr lang="en-US" sz="1000" dirty="0"/>
          </a:p>
        </p:txBody>
      </p:sp>
      <p:sp>
        <p:nvSpPr>
          <p:cNvPr id="42" name="doc7"/>
          <p:cNvSpPr/>
          <p:nvPr/>
        </p:nvSpPr>
        <p:spPr>
          <a:xfrm>
            <a:off x="2468880" y="3584448"/>
            <a:ext cx="201168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542032" y="3584448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UI_SCREENS.md (optional)</a:t>
            </a:r>
            <a:endParaRPr lang="en-US" sz="1000" dirty="0"/>
          </a:p>
        </p:txBody>
      </p:sp>
      <p:sp>
        <p:nvSpPr>
          <p:cNvPr id="44" name="doc8"/>
          <p:cNvSpPr/>
          <p:nvPr/>
        </p:nvSpPr>
        <p:spPr>
          <a:xfrm>
            <a:off x="365760" y="3931920"/>
            <a:ext cx="201168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38912" y="3931920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EVIDENCE.md</a:t>
            </a:r>
            <a:endParaRPr lang="en-US" sz="1000" dirty="0"/>
          </a:p>
        </p:txBody>
      </p:sp>
      <p:sp>
        <p:nvSpPr>
          <p:cNvPr id="46" name="doc9"/>
          <p:cNvSpPr/>
          <p:nvPr/>
        </p:nvSpPr>
        <p:spPr>
          <a:xfrm>
            <a:off x="2468880" y="3931920"/>
            <a:ext cx="201168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542032" y="3931920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STRATEGY.md</a:t>
            </a:r>
            <a:endParaRPr lang="en-US" sz="1000" dirty="0"/>
          </a:p>
        </p:txBody>
      </p:sp>
      <p:sp>
        <p:nvSpPr>
          <p:cNvPr id="48" name="doc10"/>
          <p:cNvSpPr/>
          <p:nvPr/>
        </p:nvSpPr>
        <p:spPr>
          <a:xfrm>
            <a:off x="365760" y="4279392"/>
            <a:ext cx="201168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38912" y="4279392"/>
            <a:ext cx="1901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(index)</a:t>
            </a:r>
            <a:endParaRPr lang="en-US" sz="1000" dirty="0"/>
          </a:p>
        </p:txBody>
      </p:sp>
      <p:sp>
        <p:nvSpPr>
          <p:cNvPr id="50" name="treepanel"/>
          <p:cNvSpPr/>
          <p:nvPr/>
        </p:nvSpPr>
        <p:spPr>
          <a:xfrm>
            <a:off x="4572000" y="2212848"/>
            <a:ext cx="4206240" cy="2395728"/>
          </a:xfrm>
          <a:prstGeom prst="roundRect">
            <a:avLst>
              <a:gd name="adj" fmla="val 2290"/>
            </a:avLst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681728" y="2286000"/>
            <a:ext cx="40233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&lt;repo&gt;/.modernizer/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run.json            state machine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discovery/          working data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computed/        no-model facts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evidence/ units/ analyst packs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layers/ rules/   traces, rules ledger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grounded/ writers/ requests/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deliverables/       the output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README  SETUP  BRD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TECHNICAL_SPECIFICATION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openapi.yaml / .json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TECH_DEBT  UI_*  EVIDENCE  STRATEGY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365760" y="46817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a file and line; credentials are never written to a document.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Gemini CLI framework: what is built and the order it runs</a:t>
            </a:r>
            <a:endParaRPr lang="en-US" sz="2200" dirty="0"/>
          </a:p>
        </p:txBody>
      </p:sp>
      <p:sp>
        <p:nvSpPr>
          <p:cNvPr id="3" name="cli"/>
          <p:cNvSpPr/>
          <p:nvPr/>
        </p:nvSpPr>
        <p:spPr>
          <a:xfrm>
            <a:off x="365760" y="868680"/>
            <a:ext cx="539496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868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  ·  user types /modernize:* or /reverse-engineer</a:t>
            </a:r>
            <a:endParaRPr lang="en-US" sz="1300" dirty="0"/>
          </a:p>
        </p:txBody>
      </p:sp>
      <p:sp>
        <p:nvSpPr>
          <p:cNvPr id="5" name="panelExtension: stella-modernizer"/>
          <p:cNvSpPr/>
          <p:nvPr/>
        </p:nvSpPr>
        <p:spPr>
          <a:xfrm>
            <a:off x="365760" y="1481328"/>
            <a:ext cx="260604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9050">
            <a:solidFill>
              <a:srgbClr val="0E8F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270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Extension: stella-modernizer</a:t>
            </a:r>
            <a:endParaRPr lang="en-US" sz="1200" dirty="0"/>
          </a:p>
        </p:txBody>
      </p:sp>
      <p:sp>
        <p:nvSpPr>
          <p:cNvPr id="7" name="tileExtension: stella-modernizer0"/>
          <p:cNvSpPr/>
          <p:nvPr/>
        </p:nvSpPr>
        <p:spPr>
          <a:xfrm>
            <a:off x="457200" y="1810512"/>
            <a:ext cx="1165860" cy="457200"/>
          </a:xfrm>
          <a:prstGeom prst="roundRect">
            <a:avLst>
              <a:gd name="adj" fmla="val 12000"/>
            </a:avLst>
          </a:prstGeom>
          <a:solidFill>
            <a:srgbClr val="0E8F8F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10512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GEMINI.md context</a:t>
            </a:r>
            <a:endParaRPr lang="en-US" sz="1050" dirty="0"/>
          </a:p>
        </p:txBody>
      </p:sp>
      <p:sp>
        <p:nvSpPr>
          <p:cNvPr id="9" name="tileExtension: stella-modernizer1"/>
          <p:cNvSpPr/>
          <p:nvPr/>
        </p:nvSpPr>
        <p:spPr>
          <a:xfrm>
            <a:off x="1714500" y="1810512"/>
            <a:ext cx="1165860" cy="457200"/>
          </a:xfrm>
          <a:prstGeom prst="roundRect">
            <a:avLst>
              <a:gd name="adj" fmla="val 12000"/>
            </a:avLst>
          </a:prstGeom>
          <a:solidFill>
            <a:srgbClr val="0E8F8F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60220" y="1810512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 (toml)</a:t>
            </a:r>
            <a:endParaRPr lang="en-US" sz="1050" dirty="0"/>
          </a:p>
        </p:txBody>
      </p:sp>
      <p:sp>
        <p:nvSpPr>
          <p:cNvPr id="11" name="tileExtension: stella-modernizer2"/>
          <p:cNvSpPr/>
          <p:nvPr/>
        </p:nvSpPr>
        <p:spPr>
          <a:xfrm>
            <a:off x="457200" y="2340864"/>
            <a:ext cx="1165860" cy="457200"/>
          </a:xfrm>
          <a:prstGeom prst="roundRect">
            <a:avLst>
              <a:gd name="adj" fmla="val 12000"/>
            </a:avLst>
          </a:prstGeom>
          <a:solidFill>
            <a:srgbClr val="0E8F8F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340864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subagents</a:t>
            </a:r>
            <a:endParaRPr lang="en-US" sz="1050" dirty="0"/>
          </a:p>
        </p:txBody>
      </p:sp>
      <p:sp>
        <p:nvSpPr>
          <p:cNvPr id="13" name="tileExtension: stella-modernizer3"/>
          <p:cNvSpPr/>
          <p:nvPr/>
        </p:nvSpPr>
        <p:spPr>
          <a:xfrm>
            <a:off x="1714500" y="2340864"/>
            <a:ext cx="1165860" cy="457200"/>
          </a:xfrm>
          <a:prstGeom prst="roundRect">
            <a:avLst>
              <a:gd name="adj" fmla="val 12000"/>
            </a:avLst>
          </a:prstGeom>
          <a:solidFill>
            <a:srgbClr val="0E8F8F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60220" y="2340864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(shared)</a:t>
            </a:r>
            <a:endParaRPr lang="en-US" sz="1050" dirty="0"/>
          </a:p>
        </p:txBody>
      </p:sp>
      <p:sp>
        <p:nvSpPr>
          <p:cNvPr id="15" name="panelMCP server: modernizer"/>
          <p:cNvSpPr/>
          <p:nvPr/>
        </p:nvSpPr>
        <p:spPr>
          <a:xfrm>
            <a:off x="3154680" y="1481328"/>
            <a:ext cx="260604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9050">
            <a:solidFill>
              <a:srgbClr val="2E6F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15270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server: modernizer</a:t>
            </a:r>
            <a:endParaRPr lang="en-US" sz="1200" dirty="0"/>
          </a:p>
        </p:txBody>
      </p:sp>
      <p:sp>
        <p:nvSpPr>
          <p:cNvPr id="17" name="tileMCP server: modernizer0"/>
          <p:cNvSpPr/>
          <p:nvPr/>
        </p:nvSpPr>
        <p:spPr>
          <a:xfrm>
            <a:off x="3246120" y="1810512"/>
            <a:ext cx="1165860" cy="457200"/>
          </a:xfrm>
          <a:prstGeom prst="roundRect">
            <a:avLst>
              <a:gd name="adj" fmla="val 12000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91840" y="1810512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start_run, next_step</a:t>
            </a:r>
            <a:endParaRPr lang="en-US" sz="1050" dirty="0"/>
          </a:p>
        </p:txBody>
      </p:sp>
      <p:sp>
        <p:nvSpPr>
          <p:cNvPr id="19" name="tileMCP server: modernizer1"/>
          <p:cNvSpPr/>
          <p:nvPr/>
        </p:nvSpPr>
        <p:spPr>
          <a:xfrm>
            <a:off x="4503420" y="1810512"/>
            <a:ext cx="1165860" cy="457200"/>
          </a:xfrm>
          <a:prstGeom prst="roundRect">
            <a:avLst>
              <a:gd name="adj" fmla="val 12000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49140" y="1810512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save_output, complete_step</a:t>
            </a:r>
            <a:endParaRPr lang="en-US" sz="1050" dirty="0"/>
          </a:p>
        </p:txBody>
      </p:sp>
      <p:sp>
        <p:nvSpPr>
          <p:cNvPr id="21" name="tileMCP server: modernizer2"/>
          <p:cNvSpPr/>
          <p:nvPr/>
        </p:nvSpPr>
        <p:spPr>
          <a:xfrm>
            <a:off x="3246120" y="2340864"/>
            <a:ext cx="1165860" cy="457200"/>
          </a:xfrm>
          <a:prstGeom prst="roundRect">
            <a:avLst>
              <a:gd name="adj" fmla="val 12000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91840" y="2340864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confirm, refine</a:t>
            </a:r>
            <a:endParaRPr lang="en-US" sz="1050" dirty="0"/>
          </a:p>
        </p:txBody>
      </p:sp>
      <p:sp>
        <p:nvSpPr>
          <p:cNvPr id="23" name="tileMCP server: modernizer3"/>
          <p:cNvSpPr/>
          <p:nvPr/>
        </p:nvSpPr>
        <p:spPr>
          <a:xfrm>
            <a:off x="4503420" y="2340864"/>
            <a:ext cx="1165860" cy="457200"/>
          </a:xfrm>
          <a:prstGeom prst="roundRect">
            <a:avLst>
              <a:gd name="adj" fmla="val 12000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49140" y="2340864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ws_* fenced tools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63240" y="1234440"/>
            <a:ext cx="0" cy="246888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971800" y="2194560"/>
            <a:ext cx="18288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7" name="orch"/>
          <p:cNvSpPr/>
          <p:nvPr/>
        </p:nvSpPr>
        <p:spPr>
          <a:xfrm>
            <a:off x="365760" y="315468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5B6B7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Orchestrators (Python)</a:t>
            </a:r>
            <a:endParaRPr lang="en-US" sz="1200" dirty="0"/>
          </a:p>
        </p:txBody>
      </p:sp>
      <p:sp>
        <p:nvSpPr>
          <p:cNvPr id="29" name="orch0"/>
          <p:cNvSpPr/>
          <p:nvPr/>
        </p:nvSpPr>
        <p:spPr>
          <a:xfrm>
            <a:off x="457200" y="3456432"/>
            <a:ext cx="1673352" cy="411480"/>
          </a:xfrm>
          <a:prstGeom prst="roundRect">
            <a:avLst>
              <a:gd name="adj" fmla="val 13333"/>
            </a:avLst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456432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  migrations</a:t>
            </a:r>
            <a:endParaRPr lang="en-US" sz="1000" dirty="0"/>
          </a:p>
        </p:txBody>
      </p:sp>
      <p:sp>
        <p:nvSpPr>
          <p:cNvPr id="31" name="orch1"/>
          <p:cNvSpPr/>
          <p:nvPr/>
        </p:nvSpPr>
        <p:spPr>
          <a:xfrm>
            <a:off x="2221992" y="3456432"/>
            <a:ext cx="1673352" cy="411480"/>
          </a:xfrm>
          <a:prstGeom prst="roundRect">
            <a:avLst>
              <a:gd name="adj" fmla="val 13333"/>
            </a:avLst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221992" y="3456432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discovery.py  reverse engineering</a:t>
            </a:r>
            <a:endParaRPr lang="en-US" sz="1000" dirty="0"/>
          </a:p>
        </p:txBody>
      </p:sp>
      <p:sp>
        <p:nvSpPr>
          <p:cNvPr id="33" name="orch2"/>
          <p:cNvSpPr/>
          <p:nvPr/>
        </p:nvSpPr>
        <p:spPr>
          <a:xfrm>
            <a:off x="3986784" y="3456432"/>
            <a:ext cx="1673352" cy="411480"/>
          </a:xfrm>
          <a:prstGeom prst="roundRect">
            <a:avLst>
              <a:gd name="adj" fmla="val 13333"/>
            </a:avLst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86784" y="3456432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coverage_run.py  test coverage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80560" y="2926080"/>
            <a:ext cx="0" cy="2286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6" name="core"/>
          <p:cNvSpPr/>
          <p:nvPr/>
        </p:nvSpPr>
        <p:spPr>
          <a:xfrm>
            <a:off x="365760" y="416052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2920" y="41605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core:  run.json state machine  ·  guardrail checks  ·  JDK / Maven toolchain  ·  fenced file and shell tools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63240" y="3931920"/>
            <a:ext cx="0" cy="2286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9" name="seqpanel"/>
          <p:cNvSpPr/>
          <p:nvPr/>
        </p:nvSpPr>
        <p:spPr>
          <a:xfrm>
            <a:off x="5943600" y="868680"/>
            <a:ext cx="2834640" cy="3858768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53328" y="914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sequence</a:t>
            </a:r>
            <a:endParaRPr lang="en-US" sz="1400" dirty="0"/>
          </a:p>
        </p:txBody>
      </p:sp>
      <p:sp>
        <p:nvSpPr>
          <p:cNvPr id="41" name="seq0"/>
          <p:cNvSpPr/>
          <p:nvPr/>
        </p:nvSpPr>
        <p:spPr>
          <a:xfrm>
            <a:off x="6053328" y="12801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5332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419088" y="12435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start_run opens the run</a:t>
            </a:r>
            <a:endParaRPr lang="en-US" sz="1050" dirty="0"/>
          </a:p>
        </p:txBody>
      </p:sp>
      <p:sp>
        <p:nvSpPr>
          <p:cNvPr id="44" name="seq1"/>
          <p:cNvSpPr/>
          <p:nvPr/>
        </p:nvSpPr>
        <p:spPr>
          <a:xfrm>
            <a:off x="6053328" y="177393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53328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419088" y="17373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next_step returns what to do next</a:t>
            </a:r>
            <a:endParaRPr lang="en-US" sz="1050" dirty="0"/>
          </a:p>
        </p:txBody>
      </p:sp>
      <p:sp>
        <p:nvSpPr>
          <p:cNvPr id="47" name="seq2"/>
          <p:cNvSpPr/>
          <p:nvPr/>
        </p:nvSpPr>
        <p:spPr>
          <a:xfrm>
            <a:off x="6053328" y="226771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05332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419088" y="22311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work runs in a background worker; poll shows progress</a:t>
            </a:r>
            <a:endParaRPr lang="en-US" sz="1050" dirty="0"/>
          </a:p>
        </p:txBody>
      </p:sp>
      <p:sp>
        <p:nvSpPr>
          <p:cNvPr id="50" name="seq3"/>
          <p:cNvSpPr/>
          <p:nvPr/>
        </p:nvSpPr>
        <p:spPr>
          <a:xfrm>
            <a:off x="6053328" y="276148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053328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419088" y="272491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work: Gemini hands the query to a subagent</a:t>
            </a:r>
            <a:endParaRPr lang="en-US" sz="1050" dirty="0"/>
          </a:p>
        </p:txBody>
      </p:sp>
      <p:sp>
        <p:nvSpPr>
          <p:cNvPr id="53" name="seq4"/>
          <p:cNvSpPr/>
          <p:nvPr/>
        </p:nvSpPr>
        <p:spPr>
          <a:xfrm>
            <a:off x="6053328" y="325526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053328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419088" y="321868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save_output, then complete_step runs the checks</a:t>
            </a:r>
            <a:endParaRPr lang="en-US" sz="1050" dirty="0"/>
          </a:p>
        </p:txBody>
      </p:sp>
      <p:sp>
        <p:nvSpPr>
          <p:cNvPr id="56" name="seq5"/>
          <p:cNvSpPr/>
          <p:nvPr/>
        </p:nvSpPr>
        <p:spPr>
          <a:xfrm>
            <a:off x="6053328" y="374904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053328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6419088" y="371246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wait for confirm or refine</a:t>
            </a:r>
            <a:endParaRPr lang="en-US" sz="1050" dirty="0"/>
          </a:p>
        </p:txBody>
      </p:sp>
      <p:sp>
        <p:nvSpPr>
          <p:cNvPr id="59" name="seq6"/>
          <p:cNvSpPr/>
          <p:nvPr/>
        </p:nvSpPr>
        <p:spPr>
          <a:xfrm>
            <a:off x="6053328" y="424281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053328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6419088" y="42062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ends with changes.md or deliverables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365760" y="48006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install: install.mjs --link  ·  Release: build-release.mjs to branch stable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Deep dive: Java 8 to 25 with Spring Boot 4</a:t>
            </a:r>
            <a:endParaRPr lang="en-US" sz="2200" dirty="0"/>
          </a:p>
        </p:txBody>
      </p:sp>
      <p:sp>
        <p:nvSpPr>
          <p:cNvPr id="3" name="phase0"/>
          <p:cNvSpPr/>
          <p:nvPr/>
        </p:nvSpPr>
        <p:spPr>
          <a:xfrm>
            <a:off x="365760" y="841248"/>
            <a:ext cx="2048256" cy="274320"/>
          </a:xfrm>
          <a:prstGeom prst="roundRect">
            <a:avLst>
              <a:gd name="adj" fmla="val 20000"/>
            </a:avLst>
          </a:prstGeom>
          <a:solidFill>
            <a:srgbClr val="0E8F8F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8412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100" dirty="0"/>
          </a:p>
        </p:txBody>
      </p:sp>
      <p:sp>
        <p:nvSpPr>
          <p:cNvPr id="5" name="phase1"/>
          <p:cNvSpPr/>
          <p:nvPr/>
        </p:nvSpPr>
        <p:spPr>
          <a:xfrm>
            <a:off x="2487168" y="841248"/>
            <a:ext cx="2048256" cy="274320"/>
          </a:xfrm>
          <a:prstGeom prst="roundRect">
            <a:avLst>
              <a:gd name="adj" fmla="val 20000"/>
            </a:avLst>
          </a:prstGeom>
          <a:solidFill>
            <a:srgbClr val="0E8F8F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87168" y="8412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baseline</a:t>
            </a:r>
            <a:endParaRPr lang="en-US" sz="1100" dirty="0"/>
          </a:p>
        </p:txBody>
      </p:sp>
      <p:sp>
        <p:nvSpPr>
          <p:cNvPr id="7" name="phase2"/>
          <p:cNvSpPr/>
          <p:nvPr/>
        </p:nvSpPr>
        <p:spPr>
          <a:xfrm>
            <a:off x="4608576" y="841248"/>
            <a:ext cx="2048256" cy="274320"/>
          </a:xfrm>
          <a:prstGeom prst="roundRect">
            <a:avLst>
              <a:gd name="adj" fmla="val 20000"/>
            </a:avLst>
          </a:prstGeom>
          <a:solidFill>
            <a:srgbClr val="0E8F8F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8576" y="8412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baseline</a:t>
            </a:r>
            <a:endParaRPr lang="en-US" sz="1100" dirty="0"/>
          </a:p>
        </p:txBody>
      </p:sp>
      <p:sp>
        <p:nvSpPr>
          <p:cNvPr id="9" name="phase3"/>
          <p:cNvSpPr/>
          <p:nvPr/>
        </p:nvSpPr>
        <p:spPr>
          <a:xfrm>
            <a:off x="6729984" y="841248"/>
            <a:ext cx="2048256" cy="27432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9984" y="8412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4 and cloud native</a:t>
            </a:r>
            <a:endParaRPr lang="en-US" sz="1100" dirty="0"/>
          </a:p>
        </p:txBody>
      </p:sp>
      <p:sp>
        <p:nvSpPr>
          <p:cNvPr id="11" name="stage0"/>
          <p:cNvSpPr/>
          <p:nvPr/>
        </p:nvSpPr>
        <p:spPr>
          <a:xfrm>
            <a:off x="365760" y="1188720"/>
            <a:ext cx="98755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2161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systems</a:t>
            </a:r>
            <a:endParaRPr lang="en-US" sz="1050" dirty="0"/>
          </a:p>
        </p:txBody>
      </p:sp>
      <p:sp>
        <p:nvSpPr>
          <p:cNvPr id="14" name="stage1"/>
          <p:cNvSpPr/>
          <p:nvPr/>
        </p:nvSpPr>
        <p:spPr>
          <a:xfrm>
            <a:off x="1426464" y="1188720"/>
            <a:ext cx="98755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26464" y="12161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OpenRewrite analysis</a:t>
            </a:r>
            <a:endParaRPr lang="en-US" sz="1050" dirty="0"/>
          </a:p>
        </p:txBody>
      </p:sp>
      <p:sp>
        <p:nvSpPr>
          <p:cNvPr id="17" name="stage2"/>
          <p:cNvSpPr/>
          <p:nvPr/>
        </p:nvSpPr>
        <p:spPr>
          <a:xfrm>
            <a:off x="2487168" y="1188720"/>
            <a:ext cx="98755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7168" y="12161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523744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to 17</a:t>
            </a:r>
            <a:endParaRPr lang="en-US" sz="1050" dirty="0"/>
          </a:p>
        </p:txBody>
      </p:sp>
      <p:sp>
        <p:nvSpPr>
          <p:cNvPr id="20" name="stage3"/>
          <p:cNvSpPr/>
          <p:nvPr/>
        </p:nvSpPr>
        <p:spPr>
          <a:xfrm>
            <a:off x="3547872" y="1188720"/>
            <a:ext cx="98755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47872" y="12161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84448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2.7 (WAR)</a:t>
            </a:r>
            <a:endParaRPr lang="en-US" sz="1050" dirty="0"/>
          </a:p>
        </p:txBody>
      </p:sp>
      <p:sp>
        <p:nvSpPr>
          <p:cNvPr id="23" name="stage4"/>
          <p:cNvSpPr/>
          <p:nvPr/>
        </p:nvSpPr>
        <p:spPr>
          <a:xfrm>
            <a:off x="4608576" y="1188720"/>
            <a:ext cx="98755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08576" y="12161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645152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3, Jakarta</a:t>
            </a:r>
            <a:endParaRPr lang="en-US" sz="1050" dirty="0"/>
          </a:p>
        </p:txBody>
      </p:sp>
      <p:sp>
        <p:nvSpPr>
          <p:cNvPr id="26" name="stage5"/>
          <p:cNvSpPr/>
          <p:nvPr/>
        </p:nvSpPr>
        <p:spPr>
          <a:xfrm>
            <a:off x="5669280" y="1188720"/>
            <a:ext cx="98755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0" y="12161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705856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to 25</a:t>
            </a:r>
            <a:endParaRPr lang="en-US" sz="1050" dirty="0"/>
          </a:p>
        </p:txBody>
      </p:sp>
      <p:sp>
        <p:nvSpPr>
          <p:cNvPr id="29" name="stage6"/>
          <p:cNvSpPr/>
          <p:nvPr/>
        </p:nvSpPr>
        <p:spPr>
          <a:xfrm>
            <a:off x="6729984" y="1188720"/>
            <a:ext cx="98755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29984" y="12161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4.x</a:t>
            </a:r>
            <a:endParaRPr lang="en-US" sz="1050" dirty="0"/>
          </a:p>
        </p:txBody>
      </p:sp>
      <p:sp>
        <p:nvSpPr>
          <p:cNvPr id="32" name="stage7"/>
          <p:cNvSpPr/>
          <p:nvPr/>
        </p:nvSpPr>
        <p:spPr>
          <a:xfrm>
            <a:off x="7790688" y="1188720"/>
            <a:ext cx="98755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90688" y="12161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827264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JAR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2011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builds on its own JDK. After 3 validations a failing stage stops and asks: retry, fix by hand, or skip.</a:t>
            </a:r>
            <a:endParaRPr lang="en-US" sz="1100" dirty="0"/>
          </a:p>
        </p:txBody>
      </p:sp>
      <p:sp>
        <p:nvSpPr>
          <p:cNvPr id="36" name="profile"/>
          <p:cNvSpPr/>
          <p:nvPr/>
        </p:nvSpPr>
        <p:spPr>
          <a:xfrm>
            <a:off x="365760" y="2377440"/>
            <a:ext cx="4297680" cy="2286000"/>
          </a:xfrm>
          <a:prstGeom prst="roundRect">
            <a:avLst>
              <a:gd name="adj" fmla="val 2400"/>
            </a:avLst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2920" y="2450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java-8-to-25-boot profile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2761488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 forced: Boot 4.x GA, Java 25, executable JAR on embedded Tomcat, never a WAR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Starters, no XML or web.xml, Thymeleaf, @SpringBootApplication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skill: Spring Component Inventory plus conversion order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scan B001-B013 at the last stage; boot:keep exempts a line</a:t>
            </a:r>
            <a:endParaRPr lang="en-US" sz="1200" dirty="0"/>
          </a:p>
        </p:txBody>
      </p:sp>
      <p:sp>
        <p:nvSpPr>
          <p:cNvPr id="39" name="stat0"/>
          <p:cNvSpPr/>
          <p:nvPr/>
        </p:nvSpPr>
        <p:spPr>
          <a:xfrm>
            <a:off x="4846320" y="2377440"/>
            <a:ext cx="1261872" cy="2286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246888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41" name="Text 39"/>
          <p:cNvSpPr txBox="1"/>
          <p:nvPr/>
        </p:nvSpPr>
        <p:spPr>
          <a:xfrm>
            <a:off x="4846320" y="3154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937760" y="35204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+ JBoss WAR app, 1 validation</a:t>
            </a:r>
            <a:endParaRPr lang="en-US" sz="1050" dirty="0"/>
          </a:p>
        </p:txBody>
      </p:sp>
      <p:sp>
        <p:nvSpPr>
          <p:cNvPr id="43" name="stat1"/>
          <p:cNvSpPr/>
          <p:nvPr/>
        </p:nvSpPr>
        <p:spPr>
          <a:xfrm>
            <a:off x="6181344" y="2377440"/>
            <a:ext cx="1261872" cy="2286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81344" y="246888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45" name="Text 43"/>
          <p:cNvSpPr txBox="1"/>
          <p:nvPr/>
        </p:nvSpPr>
        <p:spPr>
          <a:xfrm>
            <a:off x="6181344" y="3154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272784" y="35204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 + JBoss monorepo</a:t>
            </a:r>
            <a:endParaRPr lang="en-US" sz="1050" dirty="0"/>
          </a:p>
        </p:txBody>
      </p:sp>
      <p:sp>
        <p:nvSpPr>
          <p:cNvPr id="47" name="stat2"/>
          <p:cNvSpPr/>
          <p:nvPr/>
        </p:nvSpPr>
        <p:spPr>
          <a:xfrm>
            <a:off x="7516368" y="2377440"/>
            <a:ext cx="1261872" cy="2286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516368" y="246888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49" name="Text 47"/>
          <p:cNvSpPr txBox="1"/>
          <p:nvPr/>
        </p:nvSpPr>
        <p:spPr>
          <a:xfrm>
            <a:off x="7516368" y="3154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607808" y="35204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fix passes, Camel 4.22.1 on Boot 4.1.1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846320" y="47091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runs smoke-tested on JDK 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Guardrails the technical team should review</a:t>
            </a:r>
            <a:endParaRPr lang="en-US" sz="2200" dirty="0"/>
          </a:p>
        </p:txBody>
      </p:sp>
      <p:sp>
        <p:nvSpPr>
          <p:cNvPr id="3" name="card0"/>
          <p:cNvSpPr/>
          <p:nvPr/>
        </p:nvSpPr>
        <p:spPr>
          <a:xfrm>
            <a:off x="365760" y="868680"/>
            <a:ext cx="274320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4" name="cardicon0"/>
          <p:cNvSpPr/>
          <p:nvPr/>
        </p:nvSpPr>
        <p:spPr>
          <a:xfrm>
            <a:off x="502920" y="10058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005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versions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43560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and plugin versions are checked against an approved list before a pass is accepted.</a:t>
            </a:r>
            <a:endParaRPr lang="en-US" sz="1200" dirty="0"/>
          </a:p>
        </p:txBody>
      </p:sp>
      <p:sp>
        <p:nvSpPr>
          <p:cNvPr id="8" name="card1"/>
          <p:cNvSpPr/>
          <p:nvPr/>
        </p:nvSpPr>
        <p:spPr>
          <a:xfrm>
            <a:off x="3200400" y="868680"/>
            <a:ext cx="274320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9" name="cardicon1"/>
          <p:cNvSpPr/>
          <p:nvPr/>
        </p:nvSpPr>
        <p:spPr>
          <a:xfrm>
            <a:off x="3337560" y="10058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005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fence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43560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stay inside the approved plan and the target Java release; out-of-scope changes are flagged.</a:t>
            </a:r>
            <a:endParaRPr lang="en-US" sz="1200" dirty="0"/>
          </a:p>
        </p:txBody>
      </p:sp>
      <p:sp>
        <p:nvSpPr>
          <p:cNvPr id="13" name="card2"/>
          <p:cNvSpPr/>
          <p:nvPr/>
        </p:nvSpPr>
        <p:spPr>
          <a:xfrm>
            <a:off x="6035040" y="868680"/>
            <a:ext cx="274320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14" name="cardicon2"/>
          <p:cNvSpPr/>
          <p:nvPr/>
        </p:nvSpPr>
        <p:spPr>
          <a:xfrm>
            <a:off x="6172200" y="10058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1005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tests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43560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build and tests are recorded first; tests already failing are tolerated, new failures are not.</a:t>
            </a:r>
            <a:endParaRPr lang="en-US" sz="1200" dirty="0"/>
          </a:p>
        </p:txBody>
      </p:sp>
      <p:sp>
        <p:nvSpPr>
          <p:cNvPr id="18" name="card3"/>
          <p:cNvSpPr/>
          <p:nvPr/>
        </p:nvSpPr>
        <p:spPr>
          <a:xfrm>
            <a:off x="365760" y="2423160"/>
            <a:ext cx="274320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19" name="cardicon3"/>
          <p:cNvSpPr/>
          <p:nvPr/>
        </p:nvSpPr>
        <p:spPr>
          <a:xfrm>
            <a:off x="502920" y="25603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2560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audit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299008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Code-only diff compared to the plan: unplanned files and missed tasks are flagged before review.</a:t>
            </a:r>
            <a:endParaRPr lang="en-US" sz="1200" dirty="0"/>
          </a:p>
        </p:txBody>
      </p:sp>
      <p:sp>
        <p:nvSpPr>
          <p:cNvPr id="23" name="card4"/>
          <p:cNvSpPr/>
          <p:nvPr/>
        </p:nvSpPr>
        <p:spPr>
          <a:xfrm>
            <a:off x="3200400" y="2423160"/>
            <a:ext cx="274320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24" name="cardicon4"/>
          <p:cNvSpPr/>
          <p:nvPr/>
        </p:nvSpPr>
        <p:spPr>
          <a:xfrm>
            <a:off x="3337560" y="25603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3756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2560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fix loop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299008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validations per stage, then the stage hold gate. Build summaries print in the terminal.</a:t>
            </a:r>
            <a:endParaRPr lang="en-US" sz="1200" dirty="0"/>
          </a:p>
        </p:txBody>
      </p:sp>
      <p:sp>
        <p:nvSpPr>
          <p:cNvPr id="28" name="card5"/>
          <p:cNvSpPr/>
          <p:nvPr/>
        </p:nvSpPr>
        <p:spPr>
          <a:xfrm>
            <a:off x="6035040" y="2423160"/>
            <a:ext cx="274320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</p:spPr>
      </p:sp>
      <p:sp>
        <p:nvSpPr>
          <p:cNvPr id="29" name="cardicon5"/>
          <p:cNvSpPr/>
          <p:nvPr/>
        </p:nvSpPr>
        <p:spPr>
          <a:xfrm>
            <a:off x="6172200" y="256032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2560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gates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299008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strategy and review need approve or refine. Credentials are redacted from every document.</a:t>
            </a:r>
            <a:endParaRPr lang="en-US" sz="1200" dirty="0"/>
          </a:p>
        </p:txBody>
      </p:sp>
      <p:sp>
        <p:nvSpPr>
          <p:cNvPr id="33" name="principle"/>
          <p:cNvSpPr/>
          <p:nvPr/>
        </p:nvSpPr>
        <p:spPr>
          <a:xfrm>
            <a:off x="365760" y="406908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5760" y="40690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proposes. Code verifies. Human approves.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AI strategy: code for facts, models for judgement, people decide</a:t>
            </a:r>
            <a:endParaRPr lang="en-US" sz="2200" dirty="0"/>
          </a:p>
        </p:txBody>
      </p:sp>
      <p:sp>
        <p:nvSpPr>
          <p:cNvPr id="3" name="tier0"/>
          <p:cNvSpPr/>
          <p:nvPr/>
        </p:nvSpPr>
        <p:spPr>
          <a:xfrm>
            <a:off x="365760" y="86868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0E8F8F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941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25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code: Inventory, versions, builds, audits, citation checks</a:t>
            </a:r>
            <a:endParaRPr lang="en-US" sz="1200" dirty="0"/>
          </a:p>
        </p:txBody>
      </p:sp>
      <p:sp>
        <p:nvSpPr>
          <p:cNvPr id="6" name="tier1"/>
          <p:cNvSpPr/>
          <p:nvPr/>
        </p:nvSpPr>
        <p:spPr>
          <a:xfrm>
            <a:off x="365760" y="1892808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Judgement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500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via Gemini CLI: Plan, modify, fix and write from evidence only</a:t>
            </a:r>
            <a:endParaRPr lang="en-US" sz="1200" dirty="0"/>
          </a:p>
        </p:txBody>
      </p:sp>
      <p:sp>
        <p:nvSpPr>
          <p:cNvPr id="9" name="tier2"/>
          <p:cNvSpPr/>
          <p:nvPr/>
        </p:nvSpPr>
        <p:spPr>
          <a:xfrm>
            <a:off x="365760" y="2916936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990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3741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at gates: Approve plans, strategy and final documents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77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migration = new skill folder. The engine, gates and guardrails are reused.</a:t>
            </a:r>
            <a:endParaRPr lang="en-US" sz="1300" dirty="0"/>
          </a:p>
        </p:txBody>
      </p:sp>
      <p:sp>
        <p:nvSpPr>
          <p:cNvPr id="13" name="risks"/>
          <p:cNvSpPr/>
          <p:nvPr/>
        </p:nvSpPr>
        <p:spPr>
          <a:xfrm>
            <a:off x="4846320" y="868680"/>
            <a:ext cx="39319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941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for review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132588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pipeline tested with agents standing in for Gemini, not the real Gemini CLI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and macOS JDK discovery code has not run on those systems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pipeline needs Maven; Gradle support is limited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says six subagents; there are seven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rnizer">
  <a:themeElements>
    <a:clrScheme name="Modernizer">
      <a:dk1>
        <a:srgbClr val="16212C"/>
      </a:dk1>
      <a:lt1>
        <a:srgbClr val="FFFFFF"/>
      </a:lt1>
      <a:dk2>
        <a:srgbClr val="0B2540"/>
      </a:dk2>
      <a:lt2>
        <a:srgbClr val="F2F5F8"/>
      </a:lt2>
      <a:accent1>
        <a:srgbClr val="0E8F8F"/>
      </a:accent1>
      <a:accent2>
        <a:srgbClr val="F2A541"/>
      </a:accent2>
      <a:accent3>
        <a:srgbClr val="5B6B7B"/>
      </a:accent3>
      <a:accent4>
        <a:srgbClr val="2E6F9E"/>
      </a:accent4>
      <a:accent5>
        <a:srgbClr val="C8504B"/>
      </a:accent5>
      <a:accent6>
        <a:srgbClr val="6FA86E"/>
      </a:accent6>
      <a:hlink>
        <a:srgbClr val="2E6F9E"/>
      </a:hlink>
      <a:folHlink>
        <a:srgbClr val="5B6B7B"/>
      </a:folHlink>
    </a:clrScheme>
    <a:fontScheme name="Moderniz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Modernizer – Gemini CLI pipeline design and AI strategy</dc:title>
  <dc:subject>PptxGenJS Presentation</dc:subject>
  <dc:creator>PptxGenJS</dc:creator>
  <cp:lastModifiedBy>PptxGenJS</cp:lastModifiedBy>
  <cp:revision>1</cp:revision>
  <dcterms:created xsi:type="dcterms:W3CDTF">2026-10-16T21:17:33Z</dcterms:created>
  <dcterms:modified xsi:type="dcterms:W3CDTF">2026-10-16T21:17:33Z</dcterms:modified>
</cp:coreProperties>
</file>